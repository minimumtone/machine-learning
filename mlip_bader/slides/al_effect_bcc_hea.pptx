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Noto Sans CJK JP"/>
              </a:rPr>
              <a:t>BCC 高エントロピー合金における Al の影響</a:t>
            </a:r>
          </a:p>
          <a:p>
            <a:r>
              <a:rPr sz="2200" b="0">
                <a:solidFill>
                  <a:srgbClr val="DDE6F0"/>
                </a:solidFill>
                <a:latin typeface="Noto Sans CJK JP"/>
              </a:rPr>
              <a:t>MACE-MP-0 緩和 128 原子セルの元素別 Voronoi 過剰体積解析（mlip_bader）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1153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666666"/>
                </a:solidFill>
                <a:latin typeface="Noto Sans CJK JP"/>
              </a:rPr>
              <a:t>対象系：純元素 7 種、二元系 15 対（Al–Nb, Al–Ti, Al–V を含む）、HEA 2 種（HfNbTaTiZr, AlNbTiV）</a:t>
            </a:r>
          </a:p>
          <a:p>
            <a:r>
              <a:rPr sz="1600" b="0">
                <a:solidFill>
                  <a:srgbClr val="666666"/>
                </a:solidFill>
                <a:latin typeface="Noto Sans CJK JP"/>
              </a:rPr>
              <a:t>データ: mlip_bader/relax_results.csv, voronoi_per_atom.csv, voronoi_summary.md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背景と問い：二元系の過剰体積は HEA で生き残るか？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HEA の格子定数は Vegard 則（純元素体積の組成平均）からずれる。ずれは二元系の構造因子 Ω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sf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の加法和で記述できる（King/Alonso 型モデル）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加法モデルの前提：二元系 A–B で生じた元素 i の過剰体積 ΔV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(j) が、多元系でも近傍組成に比例してそのまま「生存」する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本解析はこの前提を MLIP（MACE-MP-0）で直接検証：二元系 → HEA での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元素別生存率 f</a:t>
            </a:r>
            <a:r>
              <a:rPr sz="2000" b="1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を Voronoi 体積で測る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Al に注目する理由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Noto Sans CJK JP"/>
              </a:rPr>
              <a:t>– </a:t>
            </a:r>
            <a:r>
              <a:rPr sz="1800" b="0">
                <a:solidFill>
                  <a:srgbClr val="222222"/>
                </a:solidFill>
                <a:latin typeface="Noto Sans CJK JP"/>
              </a:rPr>
              <a:t>Al は平衡構造が FCC で BCC は力学的に不安定 → BCC 環境での実効体積の定義自体が曖昧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Noto Sans CJK JP"/>
              </a:rPr>
              <a:t>– </a:t>
            </a:r>
            <a:r>
              <a:rPr sz="1800" b="0">
                <a:solidFill>
                  <a:srgbClr val="222222"/>
                </a:solidFill>
                <a:latin typeface="Noto Sans CJK JP"/>
              </a:rPr>
              <a:t>耐火 BCC HEA（Nb, Ti, V, Ta, …）に軽量化・耐酸化目的で添加される主要元素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Noto Sans CJK JP"/>
              </a:rPr>
              <a:t>– </a:t>
            </a:r>
            <a:r>
              <a:rPr sz="1800" b="0">
                <a:solidFill>
                  <a:srgbClr val="222222"/>
                </a:solidFill>
                <a:latin typeface="Noto Sans CJK JP"/>
              </a:rPr>
              <a:t>格子定数論文でも Al 含有 HEA（AlCoMnNiV）が独立テスト中で最大の Vegard 誤差を示し、Al–Co, Al–Mn など Al 対の Ω</a:t>
            </a:r>
            <a:r>
              <a:rPr sz="1800" b="0" baseline="-25000">
                <a:solidFill>
                  <a:srgbClr val="222222"/>
                </a:solidFill>
                <a:latin typeface="Noto Sans CJK JP"/>
              </a:rPr>
              <a:t>sf</a:t>
            </a:r>
            <a:r>
              <a:rPr sz="1800" b="0">
                <a:solidFill>
                  <a:srgbClr val="222222"/>
                </a:solidFill>
                <a:latin typeface="Noto Sans CJK JP"/>
              </a:rPr>
              <a:t> が強い負値（体積収縮）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手法：MACE-MP-0 緩和 + 周期 Voronoi 体積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モデル：MACE-MP-0 small（float64, CPU, スピン自由度なし）。FIRE 緩和 ≤ 500 ステップ（未収束セルは +1500）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セル：BCC 4×4×4 = 128 原子。純元素 7 種（Al, Hf, Nb, Ta, Ti, V, Zr）、二元系 15 対 × 3 seed（50:50 ランダム占有）、HEA 2 種 × 3 seed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体積：scipy Voronoi（3×3×3 イメージ）で元素別原子体積 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を算出（Σ 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= セル体積を検証）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二元系過剰体積：ΔV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(j) = 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(A–B) − 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 baseline="30000">
                <a:solidFill>
                  <a:srgbClr val="222222"/>
                </a:solidFill>
                <a:latin typeface="Noto Sans CJK JP"/>
              </a:rPr>
              <a:t>pure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、 Ω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MACE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= V/V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Vegard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− 1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HEA 予測（完全加法）：ΔV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 baseline="30000">
                <a:solidFill>
                  <a:srgbClr val="222222"/>
                </a:solidFill>
                <a:latin typeface="Noto Sans CJK JP"/>
              </a:rPr>
              <a:t>pred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= Σ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j≠i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2c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j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ΔV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(j)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生存率：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f</a:t>
            </a:r>
            <a:r>
              <a:rPr sz="2000" b="1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 = ΔV</a:t>
            </a:r>
            <a:r>
              <a:rPr sz="2000" b="1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1" baseline="30000">
                <a:solidFill>
                  <a:srgbClr val="222222"/>
                </a:solidFill>
                <a:latin typeface="Noto Sans CJK JP"/>
              </a:rPr>
              <a:t>HEA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 / ΔV</a:t>
            </a:r>
            <a:r>
              <a:rPr sz="2000" b="1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1" baseline="30000">
                <a:solidFill>
                  <a:srgbClr val="222222"/>
                </a:solidFill>
                <a:latin typeface="Noto Sans CJK JP"/>
              </a:rPr>
              <a:t>pred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　（|ΔV</a:t>
            </a:r>
            <a:r>
              <a:rPr sz="2000" b="0" baseline="30000">
                <a:solidFill>
                  <a:srgbClr val="222222"/>
                </a:solidFill>
                <a:latin typeface="Noto Sans CJK JP"/>
              </a:rPr>
              <a:t>pred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| &lt; 0.05 Å</a:t>
            </a:r>
            <a:r>
              <a:rPr sz="20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は判定不能扱い）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f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≈ 1：二元系の効果がそのまま転写　／　f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i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≪ 1：多元系環境で相殺・消失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純元素 BCC 体積：Al は Ti と V の間の「中間サイズ」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ure_volu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12036"/>
            <a:ext cx="7498079" cy="38740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46304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 (BCC, MACE): V = 16.83 Å</a:t>
            </a:r>
            <a:r>
              <a:rPr sz="17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（a = 3.229 Å）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実験 FCC Al の原子体積 16.6 Å</a:t>
            </a:r>
            <a:r>
              <a:rPr sz="17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 とほぼ同じ → MACE は BCC-Al を FCC 相当の体積で記述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Ti (17.14) &gt; Al (16.83) &gt; V (13.20)：AlNbTiV 中では Al は「大きい元素」ではない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純 Al BCC セルの緩和には 120 ステップ（他の純元素は 17–31）→ 力学的不安定性の兆候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二元系の Vegard 偏差：Al 対が収縮側の上位（1・2・5 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omega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83080"/>
            <a:ext cx="786384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Al–V: Ω = -3.3%、Al–Ti: -2.3%、Al–Nb: -1.6%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非 Al 対の最大収縮は Ta–Zr (-2.2%)、Nb–Zr (-1.7%)；他は |Ω| &lt; 0.6%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 を含む 3 対がすべて収縮側の上位 5 位以内 → Al–遷移金属間の d–sp 混成・電荷移動による結合短縮を示唆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格子定数論文の DFT-B2 Ω</a:t>
            </a:r>
            <a:r>
              <a:rPr sz="1700" b="0" baseline="-25000">
                <a:solidFill>
                  <a:srgbClr val="222222"/>
                </a:solidFill>
                <a:latin typeface="Noto Sans CJK JP"/>
              </a:rPr>
              <a:t>sf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（Al 対は全て負）と符号が整合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Al–X 二元系の元素別過剰体積：収縮は主に Al 側で起こる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al_binary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12036"/>
            <a:ext cx="7498079" cy="38740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46304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Al–V: ΔV</a:t>
            </a:r>
            <a:r>
              <a:rPr sz="1700" b="0" baseline="-25000">
                <a:solidFill>
                  <a:srgbClr val="222222"/>
                </a:solidFill>
                <a:latin typeface="Noto Sans CJK JP"/>
              </a:rPr>
              <a:t>Al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 = -1.92、ΔV</a:t>
            </a:r>
            <a:r>
              <a:rPr sz="1700" b="0" baseline="-25000">
                <a:solidFill>
                  <a:srgbClr val="222222"/>
                </a:solidFill>
                <a:latin typeface="Noto Sans CJK JP"/>
              </a:rPr>
              <a:t>V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 = +0.93 Å</a:t>
            </a:r>
            <a:r>
              <a:rPr sz="17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 → Al が大きく縮み、小さい V が膨らむ（体積の再分配）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Al–Ti: 両元素とも縮む（Al -0.24, Ti -0.53）→ 対全体の純収縮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Al–Nb: 両元素とも縮む（Al -0.18, Nb -0.40）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非 Al 対（Hf–Ti, Nb–V など）は「大きい元素が縮み小さい元素が膨らむ」ほぼ対称な再分配で Ω ≈ 0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 対は再分配に加えて</a:t>
            </a:r>
            <a:r>
              <a:rPr sz="1700" b="1">
                <a:solidFill>
                  <a:srgbClr val="222222"/>
                </a:solidFill>
                <a:latin typeface="Noto Sans CJK JP"/>
              </a:rPr>
              <a:t>正味の収縮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が乗る点が特徴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Al–V 二元系の原子体積分布：Al と V のサイズ差が縮まる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alv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00784"/>
            <a:ext cx="7680960" cy="40965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純元素差 3.64 Å</a:t>
            </a:r>
            <a:r>
              <a:rPr sz="17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 → Al–V 中では 0.79 Å</a:t>
            </a:r>
            <a:r>
              <a:rPr sz="17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 まで縮小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 の分布は純元素値より完全に低体積側にシフト；V は高体積側へ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分布幅（seed 内標準偏差 ≈ 0.3–0.6 Å</a:t>
            </a:r>
            <a:r>
              <a:rPr sz="17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）は局所近傍の組成揺らぎを反映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700" b="0">
                <a:solidFill>
                  <a:srgbClr val="222222"/>
                </a:solidFill>
                <a:latin typeface="Noto Sans CJK JP"/>
              </a:rPr>
              <a:t>Al は「周囲に合わせて縮む」柔らかい元素として振る舞う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HEA 検証：HfNbTaTiZr は加法的、AlNbTiV は Al の収縮が消失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hea_pred_vs_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42211"/>
            <a:ext cx="8412480" cy="38136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46304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HfNbTaTiZr：5 元素すべて予測と実測が一致（誤差 ≤ 0.3 Å</a:t>
            </a:r>
            <a:r>
              <a:rPr sz="16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）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AlNbTiV の Al：予測 -1.17 → 実測 -0.33 Å</a:t>
            </a:r>
            <a:r>
              <a:rPr sz="16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（seed 間 σ =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0.13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）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Ti も予測 -0.69 → 実測 -0.31 と半減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V は +2.50（予測 +2.31）で加法的に膨張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エラーバー：3 seed の元素平均体積の標準偏差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生存率 f：Al だけが f = 0.28（二元系効果の 7 割を喪失）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surv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13326"/>
            <a:ext cx="7863840" cy="38714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HfNbTaTiZr：f = 0.88–1.12 → 二元系の過剰体積がほぼ完全に転写（q ≈ 1 の描像と整合）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AlNbTiV：V 1.08、Nb 0.90 は加法的だが、Ti 0.45、</a:t>
            </a:r>
            <a:r>
              <a:rPr sz="1600" b="1">
                <a:solidFill>
                  <a:srgbClr val="D62728"/>
                </a:solidFill>
                <a:latin typeface="Noto Sans CJK JP"/>
              </a:rPr>
              <a:t>Al </a:t>
            </a:r>
            <a:r>
              <a:rPr sz="1600" b="1">
                <a:solidFill>
                  <a:srgbClr val="D62728"/>
                </a:solidFill>
                <a:latin typeface="Noto Sans CJK JP"/>
              </a:rPr>
              <a:t>0.28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 と Al 周りで加法性が破れる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セル全体でも AlNbTiV は f</a:t>
            </a:r>
            <a:r>
              <a:rPr sz="1600" b="0" baseline="-25000">
                <a:solidFill>
                  <a:srgbClr val="222222"/>
                </a:solidFill>
                <a:latin typeface="Noto Sans CJK JP"/>
              </a:rPr>
              <a:t>cell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 = −0.45（Vegard より膨張）vs HfNbTaTiZr 1.46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解釈：Al–V の強い収縮（−1.92）は Al–V 対が多数を占める二元系特有で、4 元系では Al 近傍の V 濃度が半分になり Nb/Ti に置き換わるため、Al–V 電荷移動による収縮が非線形に弱まる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Al 原子の局所体積：HEA 中では純 Al に近い値へ戻る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al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52016"/>
            <a:ext cx="7863840" cy="419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Al–V 中の Al（14.92）だけが大きく低体積側；Al–Nb (16.65)、Al–Ti (16.59) は純 Al (16.83) に近い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AlNbTiV 中の Al は 16.51 Å</a:t>
            </a:r>
            <a:r>
              <a:rPr sz="16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（σ = 0.54）：分布が広がり、平均は純 Al の −0.33 のみ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二元系の「Al–V 収縮」は V 濃度 50% という極端な環境でのみ顕在化 → 組成に対して非線形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 の体積は近傍の V 数に強く依存すると推測（Bader 電荷での確認が次段階）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注意点：Al 含有セルは緩和が困難（BCC-Al の不安定性）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relax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3359"/>
            <a:ext cx="7498079" cy="36913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46304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Al–X 二元系：平均 899 ステップ（非 Al 対 443）。9 セル全て 500 超で延長緩和が必要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AlNbTiV：3 seed とも 500 ステップで未収束。seed 0 は f</a:t>
            </a:r>
            <a:r>
              <a:rPr sz="1600" b="0" baseline="-25000">
                <a:solidFill>
                  <a:srgbClr val="222222"/>
                </a:solidFill>
                <a:latin typeface="Noto Sans CJK JP"/>
              </a:rPr>
              <a:t>max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 = 0.014、seed 1/2 は ≈ 0.53 eV/Å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seed 間で体積が 16.29–16.62 Å</a:t>
            </a:r>
            <a:r>
              <a:rPr sz="16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/atom と 2% ばらつく → f</a:t>
            </a:r>
            <a:r>
              <a:rPr sz="1600" b="0" baseline="-25000">
                <a:solidFill>
                  <a:srgbClr val="222222"/>
                </a:solidFill>
                <a:latin typeface="Noto Sans CJK JP"/>
              </a:rPr>
              <a:t>Al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 = 0.28 の不確かさは大きい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Al-Ti seed 1 も他 seed より 1.2% 大きい体積で収束 → 複数の局所安定構造の存在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1600" b="0">
                <a:solidFill>
                  <a:srgbClr val="222222"/>
                </a:solidFill>
                <a:latin typeface="Noto Sans CJK JP"/>
              </a:rPr>
              <a:t>MACE-MP-0 はスピン非分極、占有はランダム（SQS ではない）、Voronoi 体積 ≠ Bader 体積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次のステップ：Al の影響を電子構造で裏付ける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AlNbTiV 3 seed の延長緩和（+1500 ステップ）で f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Al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を再評価し、seed 依存性を確定させる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VASP 一点計算 + Henkelman Bader 解析（入力は vasp_bader/ に生成済み：Al, Al–Nb, Al–V, AlNbTiV ほか）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Noto Sans CJK JP"/>
              </a:rPr>
              <a:t>– </a:t>
            </a:r>
            <a:r>
              <a:rPr sz="1800" b="0">
                <a:solidFill>
                  <a:srgbClr val="222222"/>
                </a:solidFill>
                <a:latin typeface="Noto Sans CJK JP"/>
              </a:rPr>
              <a:t>Bader 体積で Voronoi 結果を検証、Bader 電荷 ΔQ で Al → 遷移金属の電荷移動量を定量（Al–V vs AlNbTiV）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Al 原子ごとの近傍組成（V 数、Nb 数…）と Voronoi 体積の相関解析 → 「Al の収縮は V 近傍数に比例するか」を検証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組成スイープ（Al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x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(NbTiV)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1−x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）で f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Al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の Al 濃度依存を取得し、Ω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sf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加法モデルへの非線形補正の形を決める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icet SQS 占有・MACE medium での再計算により、ランダム占有・小モデル由来の誤差を切り分ける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まとめ：Al は BCC HEA で「加法的でない」唯一の元素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二元系：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Al 対は Vegard 収縮側の上位（Ω = -3.3〜-1.6%、Al–V が 15 対中最大）。特に Al–V では Al が −1.92 Å</a:t>
            </a:r>
            <a:r>
              <a:rPr sz="2000" b="0" baseline="30000">
                <a:solidFill>
                  <a:srgbClr val="222222"/>
                </a:solidFill>
                <a:latin typeface="Noto Sans CJK JP"/>
              </a:rPr>
              <a:t>3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縮み V が +0.93 膨らむ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HEA：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HfNbTaTiZr は 5 元素とも f ≈ 0.88–1.12 で完全加法。AlNbTiV では </a:t>
            </a:r>
            <a:r>
              <a:rPr sz="2000" b="1">
                <a:solidFill>
                  <a:srgbClr val="D62728"/>
                </a:solidFill>
                <a:latin typeface="Noto Sans CJK JP"/>
              </a:rPr>
              <a:t>f</a:t>
            </a:r>
            <a:r>
              <a:rPr sz="2000" b="1" baseline="-25000">
                <a:solidFill>
                  <a:srgbClr val="D62728"/>
                </a:solidFill>
                <a:latin typeface="Noto Sans CJK JP"/>
              </a:rPr>
              <a:t>Al</a:t>
            </a:r>
            <a:r>
              <a:rPr sz="2000" b="1">
                <a:solidFill>
                  <a:srgbClr val="D62728"/>
                </a:solidFill>
                <a:latin typeface="Noto Sans CJK JP"/>
              </a:rPr>
              <a:t> = 0.28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、Ti も 0.45 と Al 周辺で加法性が破れる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機構仮説：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Al の収縮は Al–V 電荷移動による近傍依存効果で、4 元系で V 近傍が希釈されると非線形に弱まる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含意：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Ω</a:t>
            </a:r>
            <a:r>
              <a:rPr sz="2000" b="0" baseline="-25000">
                <a:solidFill>
                  <a:srgbClr val="222222"/>
                </a:solidFill>
                <a:latin typeface="Noto Sans CJK JP"/>
              </a:rPr>
              <a:t>sf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 加法モデル（q = 1）は耐火 BCC HEA では妥当だが、Al 含有 HEA では Al 対の Ω を過大に効かせる → 格子定数を過小予測する方向のバイアス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Noto Sans CJK JP"/>
              </a:rPr>
              <a:t>• </a:t>
            </a:r>
            <a:r>
              <a:rPr sz="2000" b="1">
                <a:solidFill>
                  <a:srgbClr val="222222"/>
                </a:solidFill>
                <a:latin typeface="Noto Sans CJK JP"/>
              </a:rPr>
              <a:t>留保：</a:t>
            </a:r>
            <a:r>
              <a:rPr sz="2000" b="0">
                <a:solidFill>
                  <a:srgbClr val="222222"/>
                </a:solidFill>
                <a:latin typeface="Noto Sans CJK JP"/>
              </a:rPr>
              <a:t>AlNbTiV は未収束・seed 依存性あり。Bader 解析と延長緩和で定量値を確定する必要がある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Noto Sans CJK JP"/>
              </a:rPr>
              <a:t>付録：数値一覧（Voronoi, MACE-MP-0 small, 3 seed 平均）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2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6583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系 / 元素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ΔV</a:t>
                      </a:r>
                      <a:r>
                        <a:rPr sz="1400" b="1" baseline="-25000">
                          <a:solidFill>
                            <a:srgbClr val="222222"/>
                          </a:solidFill>
                          <a:latin typeface="Noto Sans CJK JP"/>
                        </a:rPr>
                        <a:t>pred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 (Å</a:t>
                      </a:r>
                      <a:r>
                        <a:rPr sz="1400" b="1" baseline="30000">
                          <a:solidFill>
                            <a:srgbClr val="222222"/>
                          </a:solidFill>
                          <a:latin typeface="Noto Sans CJK JP"/>
                        </a:rPr>
                        <a:t>3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ΔV</a:t>
                      </a:r>
                      <a:r>
                        <a:rPr sz="1400" b="1" baseline="-25000">
                          <a:solidFill>
                            <a:srgbClr val="222222"/>
                          </a:solidFill>
                          <a:latin typeface="Noto Sans CJK JP"/>
                        </a:rPr>
                        <a:t>HEA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 (Å</a:t>
                      </a:r>
                      <a:r>
                        <a:rPr sz="1400" b="1" baseline="30000">
                          <a:solidFill>
                            <a:srgbClr val="222222"/>
                          </a:solidFill>
                          <a:latin typeface="Noto Sans CJK JP"/>
                        </a:rPr>
                        <a:t>3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seed σ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 (Å</a:t>
                      </a:r>
                      <a:r>
                        <a:rPr sz="1400" b="1" baseline="30000">
                          <a:solidFill>
                            <a:srgbClr val="222222"/>
                          </a:solidFill>
                          <a:latin typeface="Noto Sans CJK JP"/>
                        </a:rPr>
                        <a:t>3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f</a:t>
                      </a:r>
                      <a:r>
                        <a:rPr sz="1400" b="1" baseline="-25000">
                          <a:solidFill>
                            <a:srgbClr val="222222"/>
                          </a:solidFill>
                          <a:latin typeface="Noto Sans CJK JP"/>
                        </a:rPr>
                        <a:t>i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Hf in HfNbTaTiZr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-1.699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-1.902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1.120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Nb in HfNbTaTiZr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+0.927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+0.945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1.019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Ta in HfNbTaTiZr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+1.116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+1.200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1.075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Ti in HfNbTaTiZr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+2.410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+2.111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0.876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Zr in HfNbTaTiZr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-3.298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-3.134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0.950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Al in AlNbTiV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-1.170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-0.328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0.126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0.280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Nb in AlNbTiV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-1.527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-1.377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0.902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Ti in AlNbTiV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-0.690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-0.312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0.453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V in AlNbTiV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+2.308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+2.500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0.101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22222"/>
                          </a:solidFill>
                          <a:latin typeface="Noto Sans CJK JP"/>
                        </a:rPr>
                        <a:t>1.083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0" y="1280160"/>
          <a:ext cx="4297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420"/>
                <a:gridCol w="1074420"/>
                <a:gridCol w="1074420"/>
                <a:gridCol w="107442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Al–X 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ΔV</a:t>
                      </a:r>
                      <a:r>
                        <a:rPr sz="1400" b="1" baseline="-25000">
                          <a:solidFill>
                            <a:srgbClr val="222222"/>
                          </a:solidFill>
                          <a:latin typeface="Noto Sans CJK JP"/>
                        </a:rPr>
                        <a:t>Al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 (Å</a:t>
                      </a:r>
                      <a:r>
                        <a:rPr sz="1400" b="1" baseline="30000">
                          <a:solidFill>
                            <a:srgbClr val="222222"/>
                          </a:solidFill>
                          <a:latin typeface="Noto Sans CJK JP"/>
                        </a:rPr>
                        <a:t>3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ΔV</a:t>
                      </a:r>
                      <a:r>
                        <a:rPr sz="1400" b="1" baseline="-25000">
                          <a:solidFill>
                            <a:srgbClr val="222222"/>
                          </a:solidFill>
                          <a:latin typeface="Noto Sans CJK JP"/>
                        </a:rPr>
                        <a:t>X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 (Å</a:t>
                      </a:r>
                      <a:r>
                        <a:rPr sz="1400" b="1" baseline="30000">
                          <a:solidFill>
                            <a:srgbClr val="222222"/>
                          </a:solidFill>
                          <a:latin typeface="Noto Sans CJK JP"/>
                        </a:rPr>
                        <a:t>3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Ω</a:t>
                      </a:r>
                      <a:r>
                        <a:rPr sz="1400" b="1" baseline="-25000">
                          <a:solidFill>
                            <a:srgbClr val="222222"/>
                          </a:solidFill>
                          <a:latin typeface="Noto Sans CJK JP"/>
                        </a:rPr>
                        <a:t>MACE</a:t>
                      </a:r>
                      <a:r>
                        <a:rPr sz="1400" b="1">
                          <a:solidFill>
                            <a:srgbClr val="222222"/>
                          </a:solidFill>
                          <a:latin typeface="Noto Sans CJK JP"/>
                        </a:rPr>
                        <a:t> (%)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Al-Nb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-0.396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-1.64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Al-Ti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-0.242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-0.527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-2.26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Al-V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-1.917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+0.925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62728"/>
                          </a:solidFill>
                          <a:latin typeface="Noto Sans CJK JP"/>
                        </a:rPr>
                        <a:t>-3.30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Noto Sans CJK JP"/>
              </a:rPr>
              <a:t>出典: mlip_bader/voronoi_summary.md, relax_results.csv（コミット済みデータから make_al_slides.py が再計算）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